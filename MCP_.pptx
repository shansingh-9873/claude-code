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49bc087c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e49bc087c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49bc087c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49bc087c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e49bc087c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e49bc087c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49bc087c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49bc087c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49bc087c7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49bc087c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e49bc087c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49bc087c7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49bc087c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49bc087c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e49bc087c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11" Type="http://schemas.openxmlformats.org/officeDocument/2006/relationships/image" Target="../media/image25.png"/><Relationship Id="rId10" Type="http://schemas.openxmlformats.org/officeDocument/2006/relationships/image" Target="../media/image21.png"/><Relationship Id="rId12" Type="http://schemas.openxmlformats.org/officeDocument/2006/relationships/image" Target="../media/image27.png"/><Relationship Id="rId9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686800" y="914400"/>
            <a:ext cx="5029200" cy="5029200"/>
          </a:xfrm>
          <a:prstGeom prst="ellipse">
            <a:avLst/>
          </a:prstGeom>
          <a:solidFill>
            <a:srgbClr val="00D9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9418320" y="1645920"/>
            <a:ext cx="3474720" cy="3474720"/>
          </a:xfrm>
          <a:prstGeom prst="ellipse">
            <a:avLst/>
          </a:prstGeom>
          <a:solidFill>
            <a:srgbClr val="FF3DAC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MODULE  •  CLAUDE CODE MASTERCLASS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1554480"/>
            <a:ext cx="7315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Calibri"/>
              <a:buNone/>
            </a:pPr>
            <a:r>
              <a:rPr b="1" i="0" lang="en-US" sz="1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Model Context Protocol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Give Claude Code the power to connect with the real world.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5394960"/>
            <a:ext cx="932688" cy="384048"/>
          </a:xfrm>
          <a:prstGeom prst="roundRect">
            <a:avLst>
              <a:gd fmla="val 50000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80" y="5394960"/>
            <a:ext cx="932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Why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709928" y="5394960"/>
            <a:ext cx="1335024" cy="384048"/>
          </a:xfrm>
          <a:prstGeom prst="roundRect">
            <a:avLst>
              <a:gd fmla="val 50000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709928" y="5394960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What is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182112" y="5394960"/>
            <a:ext cx="1435608" cy="384048"/>
          </a:xfrm>
          <a:prstGeom prst="roundRect">
            <a:avLst>
              <a:gd fmla="val 50000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182112" y="5394960"/>
            <a:ext cx="14356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Database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4880" y="5394960"/>
            <a:ext cx="1234440" cy="384048"/>
          </a:xfrm>
          <a:prstGeom prst="roundRect">
            <a:avLst>
              <a:gd fmla="val 50000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754880" y="539496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GitHub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126480" y="5394960"/>
            <a:ext cx="1033272" cy="384048"/>
          </a:xfrm>
          <a:prstGeom prst="roundRect">
            <a:avLst>
              <a:gd fmla="val 50000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126480" y="5394960"/>
            <a:ext cx="1033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Context7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296912" y="5394960"/>
            <a:ext cx="2139696" cy="384048"/>
          </a:xfrm>
          <a:prstGeom prst="roundRect">
            <a:avLst>
              <a:gd fmla="val 50000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296912" y="539496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7 Must-Know Servers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058400" y="2377440"/>
            <a:ext cx="1463040" cy="146304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0269" y="2699309"/>
            <a:ext cx="819302" cy="81930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🎬  Visual: neon plug icon on glowing radial gradient (cyan + magenta).  Animation: title fades up, subtitle fades in, roadmap chips reveal left-to-right on first click.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1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🎯  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LLMs Live in a Bubble 🫧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1828800"/>
            <a:ext cx="5120640" cy="1828800"/>
          </a:xfrm>
          <a:prstGeom prst="roundRect">
            <a:avLst>
              <a:gd fmla="val 7500" name="adj"/>
            </a:avLst>
          </a:prstGeom>
          <a:solidFill>
            <a:srgbClr val="111634"/>
          </a:solidFill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🙋  Ask Claude: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68680" y="23317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"Hey Claude — read the SQLite DB in my Google Drive and tell me how many users signed up last week."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3886200"/>
            <a:ext cx="5120640" cy="1188720"/>
          </a:xfrm>
          <a:prstGeom prst="roundRect">
            <a:avLst>
              <a:gd fmla="val 11538" name="adj"/>
            </a:avLst>
          </a:prstGeom>
          <a:solidFill>
            <a:srgbClr val="2B0F1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22960" y="4069080"/>
            <a:ext cx="822960" cy="822960"/>
          </a:xfrm>
          <a:prstGeom prst="ellipse">
            <a:avLst/>
          </a:prstGeom>
          <a:solidFill>
            <a:srgbClr val="2B0F1A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011" y="425013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1828800" y="3977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Can Claude do this on its own?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828800" y="42976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Why?  LLMs only predict the next word.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They can THINK 🧠 — but they can't ACT on the outside world.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400800" y="2697480"/>
            <a:ext cx="5303520" cy="4114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00800" y="269748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629400" y="26974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Open a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972800" y="26974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400800" y="3200400"/>
            <a:ext cx="5303520" cy="4114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00800" y="320040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629400" y="320040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📁  Read files from your Drive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972800" y="32004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0" y="3703320"/>
            <a:ext cx="5303520" cy="4114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400800" y="370332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629400" y="370332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🐙  Talk to your GitHub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972800" y="370332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0" y="4206240"/>
            <a:ext cx="5303520" cy="4114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400800" y="420624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629400" y="420624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🎫  Fetch JIRA tickets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0972800" y="420624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0" y="4709160"/>
            <a:ext cx="5303520" cy="4114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00800" y="470916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629400" y="47091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Send a Slack message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972800" y="47091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fmla="val 18182" name="adj"/>
            </a:avLst>
          </a:prstGeom>
          <a:solidFill>
            <a:srgbClr val="FF3DAC">
              <a:alpha val="85098"/>
            </a:srgbClr>
          </a:solidFill>
          <a:ln cap="flat" cmpd="sng" w="1905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 That's where MCP comes 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11163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Click 1: reveal speech bubble → Click 2: flash big "NO" with shake → Clicks 3–7: cross-out each capability → Final: "That's where MCP comes in" ribbon slides up.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🎯  THE SHIFT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vs After MCP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48640" y="1691640"/>
            <a:ext cx="5440680" cy="4297680"/>
          </a:xfrm>
          <a:prstGeom prst="roundRect">
            <a:avLst>
              <a:gd fmla="val 2553" name="adj"/>
            </a:avLst>
          </a:prstGeom>
          <a:solidFill>
            <a:srgbClr val="111634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19952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417320" y="18745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BEFORE MCP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77240" y="25603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691640" y="256032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01168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Custom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840480" y="256032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160520" y="25603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77240" y="294436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691640" y="294436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011680" y="29443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Custom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840480" y="294436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160520" y="29443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JIRA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77240" y="332841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691640" y="332841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011680" y="332841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Custom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840480" y="332841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160520" y="3328416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Slack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77240" y="371246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691640" y="3712464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011680" y="37124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Custom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840480" y="3712464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160520" y="371246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77240" y="409651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691640" y="409651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011680" y="40965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Custom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840480" y="409651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160520" y="409651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77240" y="46177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✗  Different code per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77240" y="498348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✗  Not standardized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77240" y="534924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✗  Hard to maintain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199632" y="1691640"/>
            <a:ext cx="5440680" cy="4297680"/>
          </a:xfrm>
          <a:prstGeom prst="roundRect">
            <a:avLst>
              <a:gd fmla="val 2553" name="adj"/>
            </a:avLst>
          </a:prstGeom>
          <a:solidFill>
            <a:srgbClr val="111634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428232" y="1874520"/>
            <a:ext cx="548640" cy="54864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8933" y="19952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7068312" y="18745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AFTER MCP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00800" y="3154680"/>
            <a:ext cx="1280160" cy="548640"/>
          </a:xfrm>
          <a:prstGeom prst="roundRect">
            <a:avLst>
              <a:gd fmla="val 13333" name="adj"/>
            </a:avLst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400800" y="31546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138160" y="3063240"/>
            <a:ext cx="1188720" cy="731520"/>
          </a:xfrm>
          <a:prstGeom prst="roundRect">
            <a:avLst>
              <a:gd fmla="val 12500" name="adj"/>
            </a:avLst>
          </a:prstGeom>
          <a:solidFill>
            <a:srgbClr val="FF3D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138160" y="306324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>
            <a:off x="7680960" y="34290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6"/>
          <p:cNvCxnSpPr/>
          <p:nvPr/>
        </p:nvCxnSpPr>
        <p:spPr>
          <a:xfrm flipH="1" rot="10800000">
            <a:off x="9326880" y="2697480"/>
            <a:ext cx="868680" cy="73152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/>
          <p:nvPr/>
        </p:nvSpPr>
        <p:spPr>
          <a:xfrm>
            <a:off x="10195560" y="2514600"/>
            <a:ext cx="1234440" cy="384048"/>
          </a:xfrm>
          <a:prstGeom prst="roundRect">
            <a:avLst>
              <a:gd fmla="val 14286" name="adj"/>
            </a:avLst>
          </a:prstGeom>
          <a:solidFill>
            <a:srgbClr val="0A0E27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0195560" y="2514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 flipH="1" rot="10800000">
            <a:off x="9326880" y="3291840"/>
            <a:ext cx="868680" cy="13716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10195560" y="3108960"/>
            <a:ext cx="1234440" cy="384048"/>
          </a:xfrm>
          <a:prstGeom prst="roundRect">
            <a:avLst>
              <a:gd fmla="val 14286" name="adj"/>
            </a:avLst>
          </a:prstGeom>
          <a:solidFill>
            <a:srgbClr val="0A0E27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0195560" y="310896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9326880" y="3429000"/>
            <a:ext cx="868680" cy="45720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10195560" y="3703320"/>
            <a:ext cx="1234440" cy="384048"/>
          </a:xfrm>
          <a:prstGeom prst="roundRect">
            <a:avLst>
              <a:gd fmla="val 14286" name="adj"/>
            </a:avLst>
          </a:prstGeom>
          <a:solidFill>
            <a:srgbClr val="0A0E27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0195560" y="370332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9326880" y="3429000"/>
            <a:ext cx="868680" cy="105156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/>
          <p:nvPr/>
        </p:nvSpPr>
        <p:spPr>
          <a:xfrm>
            <a:off x="10195560" y="4297680"/>
            <a:ext cx="1234440" cy="384048"/>
          </a:xfrm>
          <a:prstGeom prst="roundRect">
            <a:avLst>
              <a:gd fmla="val 14286" name="adj"/>
            </a:avLst>
          </a:prstGeom>
          <a:solidFill>
            <a:srgbClr val="0A0E27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0195560" y="429768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6"/>
          <p:cNvCxnSpPr/>
          <p:nvPr/>
        </p:nvCxnSpPr>
        <p:spPr>
          <a:xfrm>
            <a:off x="9326880" y="3429000"/>
            <a:ext cx="868680" cy="164592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6"/>
          <p:cNvSpPr/>
          <p:nvPr/>
        </p:nvSpPr>
        <p:spPr>
          <a:xfrm>
            <a:off x="10195560" y="4892040"/>
            <a:ext cx="1234440" cy="384048"/>
          </a:xfrm>
          <a:prstGeom prst="roundRect">
            <a:avLst>
              <a:gd fmla="val 14286" name="adj"/>
            </a:avLst>
          </a:prstGeom>
          <a:solidFill>
            <a:srgbClr val="0A0E27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0195560" y="489204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428232" y="5349240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One standard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28232" y="5550408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Easy to maintain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28232" y="5751576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Connect anything 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11163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Click 1: BEFORE rows reveal sequentially (spaghetti). Click 2: BEFORE fades. Click 3: AFTER LLM box. Click 4: MCP hub. Clicks 5–9: spokes fan out.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📌  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MCP Story — In 4 Lines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778240" y="2103120"/>
            <a:ext cx="2743200" cy="27432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744" y="2706624"/>
            <a:ext cx="1536192" cy="153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8229600" y="50292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USB-C for AI 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229600" y="5486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One connector. Any tool.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1691640"/>
            <a:ext cx="7863840" cy="8686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48640" y="1691640"/>
            <a:ext cx="91440" cy="868680"/>
          </a:xfrm>
          <a:prstGeom prst="rect">
            <a:avLst/>
          </a:prstGeom>
          <a:solidFill>
            <a:srgbClr val="FF3D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77240" y="173736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828800" y="173736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LLMs are brilliant thinkers — but cannot ACT on the real world.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" y="2651760"/>
            <a:ext cx="7863840" cy="8686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548640" y="2651760"/>
            <a:ext cx="9144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777240" y="269748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828800" y="269748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MCP: every tool needed custom, non-standardized code 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" y="3611880"/>
            <a:ext cx="7863840" cy="8686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48640" y="3611880"/>
            <a:ext cx="91440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777240" y="365760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828800" y="365760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MCP: ONE universal protocol connects LLM to ANY tool 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48640" y="4572000"/>
            <a:ext cx="7863840" cy="868680"/>
          </a:xfrm>
          <a:prstGeom prst="rect">
            <a:avLst/>
          </a:prstGeom>
          <a:solidFill>
            <a:srgbClr val="1116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48640" y="4572000"/>
            <a:ext cx="91440" cy="8686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777240" y="461772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828800" y="461772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= USB-C for AI 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11163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Clicks 1–4: each numbered card slides in from left. Final click: USB-C glow pulse on the right.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🎯  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Exactly is MCP?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600"/>
              <a:buFont typeface="Calibri"/>
              <a:buNone/>
            </a:pPr>
            <a:r>
              <a:rPr b="1" i="0" lang="en-US" sz="96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 •  Context  •  Protocol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3246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A way to connect your LLM to external tools, services &amp; data sources.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66648" y="4023360"/>
            <a:ext cx="2377440" cy="777240"/>
          </a:xfrm>
          <a:prstGeom prst="roundRect">
            <a:avLst>
              <a:gd fmla="val 14118" name="adj"/>
            </a:avLst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066648" y="40233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444088" y="402336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───►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358488" y="4023360"/>
            <a:ext cx="2377440" cy="777240"/>
          </a:xfrm>
          <a:prstGeom prst="roundRect">
            <a:avLst>
              <a:gd fmla="val 14118" name="adj"/>
            </a:avLst>
          </a:prstGeom>
          <a:solidFill>
            <a:srgbClr val="FF3D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358488" y="40233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735928" y="402336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───►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7650328" y="4023360"/>
            <a:ext cx="3474720" cy="777240"/>
          </a:xfrm>
          <a:prstGeom prst="roundRect">
            <a:avLst>
              <a:gd fmla="val 14118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650328" y="402336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External Tools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280160" y="5257800"/>
            <a:ext cx="9601200" cy="777240"/>
          </a:xfrm>
          <a:prstGeom prst="roundRect">
            <a:avLst>
              <a:gd fmla="val 11765" name="adj"/>
            </a:avLst>
          </a:prstGeom>
          <a:solidFill>
            <a:srgbClr val="111634"/>
          </a:solidFill>
          <a:ln cap="flat" cmpd="sng" w="152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280160" y="525780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+  </a:t>
            </a:r>
            <a:r>
              <a:rPr b="1" i="0" lang="en-US" sz="20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=  </a:t>
            </a: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 more powerful Claude 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11163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Click 1: "MCP" zooms in. Click 2: "Model • Context • Protocol" types out. Click 3: equation pills appear. Final: result card glows green.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5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🎯 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Tools Does Claude Code Have BY DEFAULT?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48640" y="1645920"/>
            <a:ext cx="361188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58" y="206105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/>
          <p:nvPr/>
        </p:nvSpPr>
        <p:spPr>
          <a:xfrm>
            <a:off x="1554480" y="19202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✍️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77240" y="2606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Create files &amp; write code inside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343400" y="1645920"/>
            <a:ext cx="361188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2818" y="206105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5349240" y="19202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572000" y="2606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Read files from your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138160" y="1645920"/>
            <a:ext cx="361188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8366760" y="1920240"/>
            <a:ext cx="640080" cy="64008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7578" y="206105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9144000" y="19202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Bash 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8366760" y="2606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Execute terminal commands (npm install, ls, mkdir…).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48640" y="3611880"/>
            <a:ext cx="11064240" cy="502920"/>
          </a:xfrm>
          <a:prstGeom prst="roundRect">
            <a:avLst>
              <a:gd fmla="val 14545" name="adj"/>
            </a:avLst>
          </a:prstGeom>
          <a:solidFill>
            <a:srgbClr val="FFE4E6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48640" y="361188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🚨  But here's the LIMITATION — by default, Claude Code can NOT…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48640" y="4343400"/>
            <a:ext cx="210312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1280160" y="4480560"/>
            <a:ext cx="640080" cy="640080"/>
          </a:xfrm>
          <a:prstGeom prst="ellipse">
            <a:avLst/>
          </a:prstGeom>
          <a:solidFill>
            <a:srgbClr val="FFE4E6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0978" y="4621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/>
          <p:nvPr/>
        </p:nvSpPr>
        <p:spPr>
          <a:xfrm>
            <a:off x="187452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4008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GitHub repos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788920" y="4343400"/>
            <a:ext cx="210312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520440" y="4480560"/>
            <a:ext cx="640080" cy="640080"/>
          </a:xfrm>
          <a:prstGeom prst="ellipse">
            <a:avLst/>
          </a:prstGeom>
          <a:solidFill>
            <a:srgbClr val="FFE4E6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1258" y="4621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411480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88036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Fetch Drive docs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029200" y="4343400"/>
            <a:ext cx="210312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760720" y="4480560"/>
            <a:ext cx="640080" cy="640080"/>
          </a:xfrm>
          <a:prstGeom prst="ellipse">
            <a:avLst/>
          </a:prstGeom>
          <a:solidFill>
            <a:srgbClr val="FFE4E6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1538" y="4621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/>
          <p:nvPr/>
        </p:nvSpPr>
        <p:spPr>
          <a:xfrm>
            <a:off x="635508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12064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Query databases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7269480" y="4343400"/>
            <a:ext cx="210312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8001000" y="4480560"/>
            <a:ext cx="640080" cy="640080"/>
          </a:xfrm>
          <a:prstGeom prst="ellipse">
            <a:avLst/>
          </a:prstGeom>
          <a:solidFill>
            <a:srgbClr val="FFE4E6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41818" y="4621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859536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36092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 AWS / Docker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9509760" y="4343400"/>
            <a:ext cx="210312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10241280" y="4480560"/>
            <a:ext cx="640080" cy="640080"/>
          </a:xfrm>
          <a:prstGeom prst="ellipse">
            <a:avLst/>
          </a:prstGeom>
          <a:solidFill>
            <a:srgbClr val="FFE4E6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098" y="4621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1083564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960120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…100s of other things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Why?  These are external services — Claude Code is just a tool inside your terminal. 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FFF7E6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Clicks 1–3: built-in tool cards reveal (Write → Read → Bash). Click 4: red "LIMITATION" banner slides in. Clicks 5–9: each red-cross chip pops.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✨  THE UNLOCK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 with MCP — All of This is POSSIBLE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48640" y="1691640"/>
            <a:ext cx="438912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685800" y="1764792"/>
            <a:ext cx="457200" cy="4572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1865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1234440" y="17556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123444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029200" y="169164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669280" y="1691640"/>
            <a:ext cx="594360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806440" y="169164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263640" y="17556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Claude can now: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263640" y="19659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Talk to GitHub repos 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48640" y="2404872"/>
            <a:ext cx="438912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685800" y="2478024"/>
            <a:ext cx="457200" cy="4572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" y="25786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0"/>
          <p:cNvSpPr/>
          <p:nvPr/>
        </p:nvSpPr>
        <p:spPr>
          <a:xfrm>
            <a:off x="1234440" y="2468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234440" y="26791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JIRA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029200" y="2404872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669280" y="2404872"/>
            <a:ext cx="594360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5806440" y="2404872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263640" y="2468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Claude can now: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263640" y="267919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JIRA tickets 🎫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48640" y="3118104"/>
            <a:ext cx="438912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85800" y="3191256"/>
            <a:ext cx="457200" cy="4572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384" y="32918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1234440" y="31821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1234440" y="339242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029200" y="3118104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669280" y="3118104"/>
            <a:ext cx="594360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5806440" y="3118104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263640" y="31821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Claude can now: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263640" y="3392424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Slack messages 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48640" y="3831336"/>
            <a:ext cx="438912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384" y="4005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/>
          <p:nvPr/>
        </p:nvSpPr>
        <p:spPr>
          <a:xfrm>
            <a:off x="1234440" y="389534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1234440" y="410565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029200" y="3831336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669280" y="3831336"/>
            <a:ext cx="594360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5806440" y="3831336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6263640" y="389534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Claude can now: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263640" y="4105656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your database 🗄️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48640" y="4544568"/>
            <a:ext cx="438912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6384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1234440" y="46085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234440" y="48188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Figma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029200" y="4544568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3DAC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5669280" y="4544568"/>
            <a:ext cx="5943600" cy="594360"/>
          </a:xfrm>
          <a:prstGeom prst="roundRect">
            <a:avLst>
              <a:gd fmla="val 15385" name="adj"/>
            </a:avLst>
          </a:prstGeom>
          <a:solidFill>
            <a:srgbClr val="11163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5806440" y="4544568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263640" y="460857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Claude can now: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263640" y="481888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Figma designs 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fmla="val 16667" name="adj"/>
            </a:avLst>
          </a:prstGeom>
          <a:solidFill>
            <a:srgbClr val="00D9FF">
              <a:alpha val="25098"/>
            </a:srgbClr>
          </a:solidFill>
          <a:ln cap="flat" cmpd="sng" w="190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Once you connect ONE MCP server, you can connect ANY.  Same pattern. Every time. 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11163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Clicks 1–5: each "Connect MCP" row → arrow → capability card animates in. Final: cyan punch ribbon glows.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🎯 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 WITH  MCP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742536" y="2990088"/>
            <a:ext cx="2706624" cy="1792224"/>
          </a:xfrm>
          <a:prstGeom prst="ellipse">
            <a:avLst/>
          </a:prstGeom>
          <a:solidFill>
            <a:srgbClr val="00D9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4907128" y="3154680"/>
            <a:ext cx="2377440" cy="1463040"/>
          </a:xfrm>
          <a:prstGeom prst="roundRect">
            <a:avLst>
              <a:gd fmla="val 11250" name="adj"/>
            </a:avLst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4998568" y="3246120"/>
            <a:ext cx="2194560" cy="1280160"/>
          </a:xfrm>
          <a:prstGeom prst="roundRect">
            <a:avLst>
              <a:gd fmla="val 10000" name="adj"/>
            </a:avLst>
          </a:prstGeom>
          <a:solidFill>
            <a:srgbClr val="0A0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4907128" y="32461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907128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907128" y="4114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📖 Read  •  ✍️ Write  •  💻 Bash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1"/>
          <p:cNvCxnSpPr/>
          <p:nvPr/>
        </p:nvCxnSpPr>
        <p:spPr>
          <a:xfrm flipH="1" rot="10800000">
            <a:off x="2240280" y="1929384"/>
            <a:ext cx="2666848" cy="1956816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5" name="Google Shape;385;p11"/>
          <p:cNvSpPr/>
          <p:nvPr/>
        </p:nvSpPr>
        <p:spPr>
          <a:xfrm>
            <a:off x="548640" y="160020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647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1"/>
          <p:cNvSpPr/>
          <p:nvPr/>
        </p:nvSpPr>
        <p:spPr>
          <a:xfrm>
            <a:off x="1188720" y="160020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1"/>
          <p:cNvCxnSpPr/>
          <p:nvPr/>
        </p:nvCxnSpPr>
        <p:spPr>
          <a:xfrm flipH="1" rot="10800000">
            <a:off x="2240280" y="2706624"/>
            <a:ext cx="2666848" cy="1179576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9" name="Google Shape;389;p11"/>
          <p:cNvSpPr/>
          <p:nvPr/>
        </p:nvSpPr>
        <p:spPr>
          <a:xfrm>
            <a:off x="548640" y="237744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54203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1"/>
          <p:cNvSpPr/>
          <p:nvPr/>
        </p:nvSpPr>
        <p:spPr>
          <a:xfrm>
            <a:off x="1188720" y="237744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11"/>
          <p:cNvCxnSpPr/>
          <p:nvPr/>
        </p:nvCxnSpPr>
        <p:spPr>
          <a:xfrm flipH="1" rot="10800000">
            <a:off x="2240280" y="3483864"/>
            <a:ext cx="2666848" cy="402336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3" name="Google Shape;393;p11"/>
          <p:cNvSpPr/>
          <p:nvPr/>
        </p:nvSpPr>
        <p:spPr>
          <a:xfrm>
            <a:off x="548640" y="315468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31927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1"/>
          <p:cNvSpPr/>
          <p:nvPr/>
        </p:nvSpPr>
        <p:spPr>
          <a:xfrm>
            <a:off x="1188720" y="315468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1"/>
          <p:cNvCxnSpPr/>
          <p:nvPr/>
        </p:nvCxnSpPr>
        <p:spPr>
          <a:xfrm>
            <a:off x="2240280" y="3886200"/>
            <a:ext cx="2666848" cy="374904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7" name="Google Shape;397;p11"/>
          <p:cNvSpPr/>
          <p:nvPr/>
        </p:nvSpPr>
        <p:spPr>
          <a:xfrm>
            <a:off x="548640" y="393192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40965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1"/>
          <p:cNvSpPr/>
          <p:nvPr/>
        </p:nvSpPr>
        <p:spPr>
          <a:xfrm>
            <a:off x="1188720" y="393192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1"/>
          <p:cNvCxnSpPr/>
          <p:nvPr/>
        </p:nvCxnSpPr>
        <p:spPr>
          <a:xfrm>
            <a:off x="2240280" y="3886200"/>
            <a:ext cx="2666848" cy="1152144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1" name="Google Shape;401;p11"/>
          <p:cNvSpPr/>
          <p:nvPr/>
        </p:nvSpPr>
        <p:spPr>
          <a:xfrm>
            <a:off x="548640" y="470916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487375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1"/>
          <p:cNvSpPr/>
          <p:nvPr/>
        </p:nvSpPr>
        <p:spPr>
          <a:xfrm>
            <a:off x="1188720" y="470916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1"/>
          <p:cNvCxnSpPr/>
          <p:nvPr/>
        </p:nvCxnSpPr>
        <p:spPr>
          <a:xfrm flipH="1" rot="10800000">
            <a:off x="7284568" y="1929384"/>
            <a:ext cx="2666848" cy="1956816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5" name="Google Shape;405;p11"/>
          <p:cNvSpPr/>
          <p:nvPr/>
        </p:nvSpPr>
        <p:spPr>
          <a:xfrm>
            <a:off x="9951415" y="160020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88575" y="17647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1"/>
          <p:cNvSpPr/>
          <p:nvPr/>
        </p:nvSpPr>
        <p:spPr>
          <a:xfrm>
            <a:off x="10591495" y="160020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1"/>
          <p:cNvCxnSpPr/>
          <p:nvPr/>
        </p:nvCxnSpPr>
        <p:spPr>
          <a:xfrm flipH="1" rot="10800000">
            <a:off x="7284568" y="2706624"/>
            <a:ext cx="2666848" cy="1179576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9" name="Google Shape;409;p11"/>
          <p:cNvSpPr/>
          <p:nvPr/>
        </p:nvSpPr>
        <p:spPr>
          <a:xfrm>
            <a:off x="9951415" y="237744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88575" y="254203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1"/>
          <p:cNvSpPr/>
          <p:nvPr/>
        </p:nvSpPr>
        <p:spPr>
          <a:xfrm>
            <a:off x="10591495" y="237744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1"/>
          <p:cNvCxnSpPr/>
          <p:nvPr/>
        </p:nvCxnSpPr>
        <p:spPr>
          <a:xfrm flipH="1" rot="10800000">
            <a:off x="7284568" y="3483864"/>
            <a:ext cx="2666848" cy="402336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13" name="Google Shape;413;p11"/>
          <p:cNvSpPr/>
          <p:nvPr/>
        </p:nvSpPr>
        <p:spPr>
          <a:xfrm>
            <a:off x="9951415" y="315468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88575" y="331927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1"/>
          <p:cNvSpPr/>
          <p:nvPr/>
        </p:nvSpPr>
        <p:spPr>
          <a:xfrm>
            <a:off x="10591495" y="315468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1"/>
          <p:cNvCxnSpPr/>
          <p:nvPr/>
        </p:nvCxnSpPr>
        <p:spPr>
          <a:xfrm>
            <a:off x="7284568" y="3886200"/>
            <a:ext cx="2666848" cy="374904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17" name="Google Shape;417;p11"/>
          <p:cNvSpPr/>
          <p:nvPr/>
        </p:nvSpPr>
        <p:spPr>
          <a:xfrm>
            <a:off x="9951415" y="393192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8" name="Google Shape;418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88575" y="40965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1"/>
          <p:cNvSpPr/>
          <p:nvPr/>
        </p:nvSpPr>
        <p:spPr>
          <a:xfrm>
            <a:off x="10591495" y="393192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1"/>
          <p:cNvCxnSpPr/>
          <p:nvPr/>
        </p:nvCxnSpPr>
        <p:spPr>
          <a:xfrm>
            <a:off x="7284568" y="3886200"/>
            <a:ext cx="2666848" cy="1152144"/>
          </a:xfrm>
          <a:prstGeom prst="straightConnector1">
            <a:avLst/>
          </a:prstGeom>
          <a:noFill/>
          <a:ln cap="flat" cmpd="sng" w="1270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1" name="Google Shape;421;p11"/>
          <p:cNvSpPr/>
          <p:nvPr/>
        </p:nvSpPr>
        <p:spPr>
          <a:xfrm>
            <a:off x="9951415" y="4709160"/>
            <a:ext cx="1691640" cy="658368"/>
          </a:xfrm>
          <a:prstGeom prst="roundRect">
            <a:avLst>
              <a:gd fmla="val 11111" name="adj"/>
            </a:avLst>
          </a:prstGeom>
          <a:solidFill>
            <a:srgbClr val="111634"/>
          </a:solidFill>
          <a:ln cap="flat" cmpd="sng" w="127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88575" y="487375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1"/>
          <p:cNvSpPr/>
          <p:nvPr/>
        </p:nvSpPr>
        <p:spPr>
          <a:xfrm>
            <a:off x="10591495" y="470916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548640" y="5852160"/>
            <a:ext cx="11064240" cy="411480"/>
          </a:xfrm>
          <a:prstGeom prst="roundRect">
            <a:avLst>
              <a:gd fmla="val 22222" name="adj"/>
            </a:avLst>
          </a:prstGeom>
          <a:solidFill>
            <a:srgbClr val="FF3DAC">
              <a:alpha val="74901"/>
            </a:srgbClr>
          </a:solidFill>
          <a:ln cap="flat" cmpd="sng" w="15225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 An AI engineer with INFINITE capabilities 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48640" y="6327648"/>
            <a:ext cx="8686800" cy="365760"/>
          </a:xfrm>
          <a:prstGeom prst="roundRect">
            <a:avLst>
              <a:gd fmla="val 15000" name="adj"/>
            </a:avLst>
          </a:prstGeom>
          <a:solidFill>
            <a:srgbClr val="11163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685800" y="632764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⚡ TRIGGER ANIMATION  </a:t>
            </a:r>
            <a:r>
              <a:rPr b="0" i="0" lang="en-US" sz="9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Click 1: Claude Code hub pulses in. Click 2: all 10 MCP satellites fan out with dashed connectors. Final: result tagline glows.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